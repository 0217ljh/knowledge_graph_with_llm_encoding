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8" r:id="rId4"/>
    <p:sldId id="267" r:id="rId5"/>
    <p:sldId id="270" r:id="rId6"/>
    <p:sldId id="257" r:id="rId7"/>
    <p:sldId id="266" r:id="rId8"/>
    <p:sldId id="271" r:id="rId9"/>
    <p:sldId id="258" r:id="rId10"/>
    <p:sldId id="269" r:id="rId11"/>
    <p:sldId id="259" r:id="rId12"/>
    <p:sldId id="260" r:id="rId13"/>
    <p:sldId id="261" r:id="rId14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8C00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jpeg"/><Relationship Id="rId8" Type="http://schemas.openxmlformats.org/officeDocument/2006/relationships/image" Target="../media/image17.jpeg"/><Relationship Id="rId7" Type="http://schemas.openxmlformats.org/officeDocument/2006/relationships/image" Target="../media/image16.jpeg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jpeg"/><Relationship Id="rId2" Type="http://schemas.openxmlformats.org/officeDocument/2006/relationships/image" Target="../media/image9.png"/><Relationship Id="rId1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jpe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jpe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589848"/>
            <a:ext cx="9144000" cy="2387600"/>
          </a:xfrm>
        </p:spPr>
        <p:txBody>
          <a:bodyPr>
            <a:normAutofit fontScale="90000"/>
          </a:bodyPr>
          <a:p>
            <a:r>
              <a:rPr lang="zh-CN" altLang="en-US"/>
              <a:t>Enhanced Multimodal Infrared Spectra Analysis through the Integration of Knowledge Graphs and Large Language Model Encoding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-74295"/>
            <a:ext cx="10515600" cy="1325563"/>
          </a:xfrm>
        </p:spPr>
        <p:txBody>
          <a:bodyPr/>
          <a:p>
            <a:r>
              <a:rPr lang="zh-CN" altLang="en-US"/>
              <a:t>此前完成的相关</a:t>
            </a:r>
            <a:r>
              <a:rPr lang="zh-CN" altLang="en-US"/>
              <a:t>内容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202565" y="1153795"/>
            <a:ext cx="1583690" cy="128016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tx1"/>
                </a:solidFill>
              </a:rPr>
              <a:t>引入化学信息：</a:t>
            </a:r>
            <a:r>
              <a:rPr lang="zh-CN" altLang="en-US" sz="2000" b="1">
                <a:solidFill>
                  <a:schemeClr val="tx1"/>
                </a:solidFill>
              </a:rPr>
              <a:t>完成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2288540" y="1153795"/>
            <a:ext cx="1583690" cy="128016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tx1"/>
                </a:solidFill>
              </a:rPr>
              <a:t>光谱节点化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完成</a:t>
            </a:r>
            <a:endParaRPr lang="en-US" altLang="zh-CN" sz="2000">
              <a:solidFill>
                <a:schemeClr val="tx1"/>
              </a:solidFill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374515" y="1153795"/>
            <a:ext cx="1583690" cy="128016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tx1"/>
                </a:solidFill>
              </a:rPr>
              <a:t>获取混合图谱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完成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6594475" y="1153795"/>
            <a:ext cx="1583690" cy="128016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>
                <a:solidFill>
                  <a:schemeClr val="tx1"/>
                </a:solidFill>
              </a:rPr>
              <a:t>LLM</a:t>
            </a:r>
            <a:r>
              <a:rPr lang="zh-CN" altLang="en-US" sz="2000">
                <a:solidFill>
                  <a:schemeClr val="tx1"/>
                </a:solidFill>
              </a:rPr>
              <a:t>语义编码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2000" b="1">
                <a:solidFill>
                  <a:schemeClr val="tx1"/>
                </a:solidFill>
                <a:sym typeface="+mn-ea"/>
              </a:rPr>
              <a:t>完成</a:t>
            </a:r>
            <a:endParaRPr lang="zh-CN" altLang="en-US" sz="2000">
              <a:solidFill>
                <a:schemeClr val="tx1"/>
              </a:solidFill>
            </a:endParaRPr>
          </a:p>
        </p:txBody>
      </p:sp>
      <p:cxnSp>
        <p:nvCxnSpPr>
          <p:cNvPr id="23" name="直接箭头连接符 22"/>
          <p:cNvCxnSpPr>
            <a:stCxn id="9" idx="3"/>
            <a:endCxn id="4" idx="1"/>
          </p:cNvCxnSpPr>
          <p:nvPr/>
        </p:nvCxnSpPr>
        <p:spPr>
          <a:xfrm>
            <a:off x="1786255" y="1793875"/>
            <a:ext cx="5022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4" idx="3"/>
            <a:endCxn id="5" idx="1"/>
          </p:cNvCxnSpPr>
          <p:nvPr/>
        </p:nvCxnSpPr>
        <p:spPr>
          <a:xfrm>
            <a:off x="3872230" y="1793875"/>
            <a:ext cx="50228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5" idx="3"/>
            <a:endCxn id="20" idx="1"/>
          </p:cNvCxnSpPr>
          <p:nvPr/>
        </p:nvCxnSpPr>
        <p:spPr>
          <a:xfrm>
            <a:off x="5958205" y="1793875"/>
            <a:ext cx="63627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圆角矩形 5"/>
          <p:cNvSpPr/>
          <p:nvPr/>
        </p:nvSpPr>
        <p:spPr>
          <a:xfrm>
            <a:off x="8814435" y="1153795"/>
            <a:ext cx="1583690" cy="128016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tx1"/>
                </a:solidFill>
              </a:rPr>
              <a:t>构造任务图</a:t>
            </a:r>
            <a:endParaRPr lang="zh-CN" altLang="en-US" sz="2000">
              <a:solidFill>
                <a:schemeClr val="tx1"/>
              </a:solidFill>
            </a:endParaRPr>
          </a:p>
        </p:txBody>
      </p:sp>
      <p:cxnSp>
        <p:nvCxnSpPr>
          <p:cNvPr id="7" name="直接箭头连接符 6"/>
          <p:cNvCxnSpPr>
            <a:endCxn id="6" idx="1"/>
          </p:cNvCxnSpPr>
          <p:nvPr/>
        </p:nvCxnSpPr>
        <p:spPr>
          <a:xfrm>
            <a:off x="8178165" y="1793875"/>
            <a:ext cx="63627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肘形连接符 7"/>
          <p:cNvCxnSpPr>
            <a:stCxn id="6" idx="3"/>
          </p:cNvCxnSpPr>
          <p:nvPr/>
        </p:nvCxnSpPr>
        <p:spPr>
          <a:xfrm>
            <a:off x="10398125" y="1793875"/>
            <a:ext cx="999490" cy="173228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圆角矩形 11"/>
          <p:cNvSpPr/>
          <p:nvPr/>
        </p:nvSpPr>
        <p:spPr>
          <a:xfrm>
            <a:off x="10398125" y="3526155"/>
            <a:ext cx="1583690" cy="128016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tx1"/>
                </a:solidFill>
              </a:rPr>
              <a:t>构建图神经网络进行</a:t>
            </a:r>
            <a:r>
              <a:rPr lang="zh-CN" altLang="en-US" sz="2000">
                <a:solidFill>
                  <a:schemeClr val="tx1"/>
                </a:solidFill>
              </a:rPr>
              <a:t>训练</a:t>
            </a:r>
            <a:endParaRPr lang="zh-CN" altLang="en-US" sz="2000">
              <a:solidFill>
                <a:schemeClr val="tx1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>
            <a:off x="11397615" y="4806315"/>
            <a:ext cx="0" cy="6496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10398125" y="5455920"/>
            <a:ext cx="1583690" cy="128016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chemeClr val="tx1"/>
                </a:solidFill>
              </a:rPr>
              <a:t>测试模型</a:t>
            </a:r>
            <a:r>
              <a:rPr lang="zh-CN" altLang="en-US" sz="2000">
                <a:solidFill>
                  <a:schemeClr val="tx1"/>
                </a:solidFill>
              </a:rPr>
              <a:t>性能</a:t>
            </a:r>
            <a:endParaRPr lang="zh-CN" altLang="en-US" sz="2000">
              <a:solidFill>
                <a:schemeClr val="tx1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55" y="5136515"/>
            <a:ext cx="4954270" cy="159956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6" name="直接箭头连接符 15"/>
          <p:cNvCxnSpPr/>
          <p:nvPr/>
        </p:nvCxnSpPr>
        <p:spPr>
          <a:xfrm flipV="1">
            <a:off x="545465" y="2433955"/>
            <a:ext cx="0" cy="270065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745" y="3242310"/>
            <a:ext cx="2639060" cy="164020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8" name="直接箭头连接符 17"/>
          <p:cNvCxnSpPr/>
          <p:nvPr/>
        </p:nvCxnSpPr>
        <p:spPr>
          <a:xfrm flipV="1">
            <a:off x="3125470" y="2433955"/>
            <a:ext cx="0" cy="80835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V="1">
            <a:off x="5655310" y="2433955"/>
            <a:ext cx="0" cy="80835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l="1319" t="1023" b="1418"/>
          <a:stretch>
            <a:fillRect/>
          </a:stretch>
        </p:blipFill>
        <p:spPr>
          <a:xfrm>
            <a:off x="4585970" y="3190240"/>
            <a:ext cx="2771775" cy="169227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6" name="直接箭头连接符 25"/>
          <p:cNvCxnSpPr/>
          <p:nvPr/>
        </p:nvCxnSpPr>
        <p:spPr>
          <a:xfrm flipV="1">
            <a:off x="7959725" y="2435860"/>
            <a:ext cx="0" cy="270065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0" name="图片 29"/>
          <p:cNvPicPr>
            <a:picLocks noChangeAspect="1"/>
          </p:cNvPicPr>
          <p:nvPr/>
        </p:nvPicPr>
        <p:blipFill>
          <a:blip r:embed="rId4"/>
          <a:srcRect t="41610"/>
          <a:stretch>
            <a:fillRect/>
          </a:stretch>
        </p:blipFill>
        <p:spPr>
          <a:xfrm>
            <a:off x="5888990" y="5278755"/>
            <a:ext cx="4279900" cy="929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-74295"/>
            <a:ext cx="10515600" cy="1325563"/>
          </a:xfrm>
        </p:spPr>
        <p:txBody>
          <a:bodyPr/>
          <a:p>
            <a:r>
              <a:rPr lang="en-US" altLang="zh-CN"/>
              <a:t>1.</a:t>
            </a:r>
            <a:r>
              <a:rPr lang="zh-CN" altLang="en-US"/>
              <a:t>任务图</a:t>
            </a:r>
            <a:r>
              <a:rPr lang="zh-CN" altLang="en-US"/>
              <a:t>设置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1728"/>
          <a:stretch>
            <a:fillRect/>
          </a:stretch>
        </p:blipFill>
        <p:spPr>
          <a:xfrm>
            <a:off x="6833235" y="1708150"/>
            <a:ext cx="2274570" cy="36671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6470" y="1708150"/>
            <a:ext cx="1730375" cy="3800475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6833870" y="1753870"/>
            <a:ext cx="190500" cy="574675"/>
          </a:xfrm>
          <a:prstGeom prst="round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6902450" y="1708150"/>
            <a:ext cx="765810" cy="137160"/>
          </a:xfrm>
          <a:prstGeom prst="round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11367135" y="1701165"/>
            <a:ext cx="219710" cy="343535"/>
          </a:xfrm>
          <a:prstGeom prst="round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9856470" y="5165090"/>
            <a:ext cx="219710" cy="343535"/>
          </a:xfrm>
          <a:prstGeom prst="round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l="1319" t="1023" b="1418"/>
          <a:stretch>
            <a:fillRect/>
          </a:stretch>
        </p:blipFill>
        <p:spPr>
          <a:xfrm>
            <a:off x="118110" y="2115185"/>
            <a:ext cx="5652135" cy="3450590"/>
          </a:xfrm>
          <a:prstGeom prst="rect">
            <a:avLst/>
          </a:prstGeom>
        </p:spPr>
      </p:pic>
      <p:sp>
        <p:nvSpPr>
          <p:cNvPr id="11" name="右箭头 10"/>
          <p:cNvSpPr/>
          <p:nvPr/>
        </p:nvSpPr>
        <p:spPr>
          <a:xfrm>
            <a:off x="6067425" y="3561715"/>
            <a:ext cx="545465" cy="31178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-74295"/>
            <a:ext cx="10515600" cy="1325563"/>
          </a:xfrm>
        </p:spPr>
        <p:txBody>
          <a:bodyPr/>
          <a:p>
            <a:r>
              <a:rPr lang="en-US" altLang="zh-CN"/>
              <a:t>1.</a:t>
            </a:r>
            <a:r>
              <a:rPr lang="zh-CN" altLang="en-US"/>
              <a:t>任务图</a:t>
            </a:r>
            <a:r>
              <a:rPr lang="zh-CN" altLang="en-US"/>
              <a:t>设置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30" y="1708150"/>
            <a:ext cx="1730375" cy="3800475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6833870" y="1753870"/>
            <a:ext cx="190500" cy="574675"/>
          </a:xfrm>
          <a:prstGeom prst="round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6902450" y="1708150"/>
            <a:ext cx="765810" cy="137160"/>
          </a:xfrm>
          <a:prstGeom prst="round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2271395" y="1701165"/>
            <a:ext cx="219710" cy="343535"/>
          </a:xfrm>
          <a:prstGeom prst="round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760730" y="5165090"/>
            <a:ext cx="219710" cy="343535"/>
          </a:xfrm>
          <a:prstGeom prst="round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左大括号 9"/>
          <p:cNvSpPr/>
          <p:nvPr/>
        </p:nvSpPr>
        <p:spPr>
          <a:xfrm>
            <a:off x="3070860" y="1506220"/>
            <a:ext cx="510540" cy="462153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886200" y="17754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Prompt</a:t>
            </a:r>
            <a:r>
              <a:rPr lang="zh-CN" altLang="en-US"/>
              <a:t>节点</a:t>
            </a:r>
            <a:r>
              <a:rPr lang="zh-CN" altLang="en-US"/>
              <a:t>文本：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949700" y="25971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Class</a:t>
            </a:r>
            <a:r>
              <a:rPr lang="zh-CN" altLang="en-US"/>
              <a:t>节点</a:t>
            </a:r>
            <a:r>
              <a:rPr lang="zh-CN" altLang="en-US"/>
              <a:t>文本：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3949700" y="41833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Prompt to Feature </a:t>
            </a:r>
            <a:r>
              <a:rPr lang="zh-CN" altLang="en-US"/>
              <a:t>边文本：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991610" y="47675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Feature to P</a:t>
            </a:r>
            <a:r>
              <a:rPr lang="en-US"/>
              <a:t>rompt </a:t>
            </a:r>
            <a:r>
              <a:rPr lang="zh-CN" altLang="en-US"/>
              <a:t>边文本：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886200" y="57594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P</a:t>
            </a:r>
            <a:r>
              <a:rPr lang="en-US"/>
              <a:t>rompt to class</a:t>
            </a:r>
            <a:r>
              <a:rPr lang="zh-CN" altLang="en-US"/>
              <a:t>边文本：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902450" y="403891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>
                <a:solidFill>
                  <a:srgbClr val="718C00"/>
                </a:solidFill>
                <a:latin typeface="Consolas" panose="020B0609020204030204"/>
                <a:ea typeface="Consolas" panose="020B0609020204030204"/>
              </a:rPr>
              <a:t>"prompt edge. edge for query graph that is our target"</a:t>
            </a:r>
            <a:endParaRPr lang="en-US" altLang="zh-CN" sz="1600">
              <a:solidFill>
                <a:srgbClr val="718C00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769735" y="470947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>
                <a:solidFill>
                  <a:srgbClr val="718C00"/>
                </a:solidFill>
                <a:latin typeface="Consolas" panose="020B0609020204030204"/>
                <a:ea typeface="Consolas" panose="020B0609020204030204"/>
              </a:rPr>
              <a:t>"prompt edge. edge for query graph that is our target"</a:t>
            </a:r>
            <a:endParaRPr lang="en-US" altLang="zh-CN" sz="1600">
              <a:solidFill>
                <a:srgbClr val="718C00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717030" y="57902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>
                <a:solidFill>
                  <a:srgbClr val="718C00"/>
                </a:solidFill>
                <a:latin typeface="Consolas" panose="020B0609020204030204"/>
                <a:ea typeface="Consolas" panose="020B0609020204030204"/>
              </a:rPr>
              <a:t>"prompt edge."</a:t>
            </a:r>
            <a:r>
              <a:rPr lang="en-US" altLang="zh-CN" sz="1600">
                <a:solidFill>
                  <a:srgbClr val="4D4D4C"/>
                </a:solidFill>
                <a:latin typeface="Consolas" panose="020B0609020204030204"/>
                <a:ea typeface="Consolas" panose="020B0609020204030204"/>
              </a:rPr>
              <a:t>,</a:t>
            </a:r>
            <a:endParaRPr lang="en-US" altLang="zh-CN" sz="1600">
              <a:solidFill>
                <a:srgbClr val="4D4D4C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365875" y="1311592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>
                <a:solidFill>
                  <a:srgbClr val="718C00"/>
                </a:solidFill>
                <a:latin typeface="Consolas" panose="020B0609020204030204"/>
                <a:ea typeface="Consolas" panose="020B0609020204030204"/>
              </a:rPr>
              <a:t>"prompt node. node classification on the sample's category based on spectral </a:t>
            </a:r>
            <a:endParaRPr lang="en-US" altLang="zh-CN" sz="1600">
              <a:solidFill>
                <a:srgbClr val="718C00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1600">
                <a:solidFill>
                  <a:srgbClr val="718C00"/>
                </a:solidFill>
                <a:latin typeface="Consolas" panose="020B0609020204030204"/>
                <a:ea typeface="Consolas" panose="020B0609020204030204"/>
              </a:rPr>
              <a:t>information and knowledge graph"</a:t>
            </a:r>
            <a:r>
              <a:rPr lang="en-US" altLang="zh-CN" sz="1600">
                <a:solidFill>
                  <a:srgbClr val="4D4D4C"/>
                </a:solidFill>
                <a:latin typeface="Consolas" panose="020B0609020204030204"/>
                <a:ea typeface="Consolas" panose="020B0609020204030204"/>
              </a:rPr>
              <a:t>,</a:t>
            </a:r>
            <a:endParaRPr lang="en-US" altLang="zh-CN" sz="1600">
              <a:solidFill>
                <a:srgbClr val="4D4D4C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231255" y="2257742"/>
            <a:ext cx="5080000" cy="156845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>
                <a:solidFill>
                  <a:srgbClr val="718C00"/>
                </a:solidFill>
                <a:latin typeface="Consolas" panose="020B0609020204030204"/>
                <a:ea typeface="Consolas" panose="020B0609020204030204"/>
              </a:rPr>
              <a:t>"prompt node. Type of compound and description: "An "aromatic compound" is a type of organic compound characterized by its distinctive aroma, planar structure, and unique electronic structure. These compounds are...</a:t>
            </a:r>
            <a:r>
              <a:rPr lang="en-US" altLang="zh-CN" sz="1600">
                <a:solidFill>
                  <a:srgbClr val="718C00"/>
                </a:solidFill>
                <a:latin typeface="Consolas" panose="020B0609020204030204"/>
                <a:ea typeface="Consolas" panose="020B0609020204030204"/>
                <a:sym typeface="+mn-ea"/>
              </a:rPr>
              <a:t>"</a:t>
            </a:r>
            <a:endParaRPr lang="en-US" altLang="zh-CN" sz="1600">
              <a:solidFill>
                <a:srgbClr val="718C00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-74295"/>
            <a:ext cx="10515600" cy="1325563"/>
          </a:xfrm>
        </p:spPr>
        <p:txBody>
          <a:bodyPr/>
          <a:p>
            <a:r>
              <a:rPr lang="en-US" altLang="zh-CN"/>
              <a:t>2.</a:t>
            </a:r>
            <a:r>
              <a:rPr lang="zh-CN" altLang="en-US"/>
              <a:t>模型</a:t>
            </a:r>
            <a:r>
              <a:rPr lang="zh-CN" altLang="en-US"/>
              <a:t>设置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6575" y="1304290"/>
            <a:ext cx="6147435" cy="51085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820" y="1481455"/>
            <a:ext cx="4159885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-74295"/>
            <a:ext cx="10515600" cy="1325563"/>
          </a:xfrm>
        </p:spPr>
        <p:txBody>
          <a:bodyPr/>
          <a:p>
            <a:r>
              <a:rPr lang="en-US" altLang="zh-CN"/>
              <a:t>3.</a:t>
            </a:r>
            <a:r>
              <a:rPr lang="zh-CN" altLang="en-US"/>
              <a:t>全流程测试</a:t>
            </a:r>
            <a:r>
              <a:rPr lang="zh-CN" altLang="en-US"/>
              <a:t>评估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rcRect l="54" b="73969"/>
          <a:stretch>
            <a:fillRect/>
          </a:stretch>
        </p:blipFill>
        <p:spPr>
          <a:xfrm>
            <a:off x="319405" y="1097915"/>
            <a:ext cx="10509885" cy="5372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 l="1319" t="1023" b="1418"/>
          <a:stretch>
            <a:fillRect/>
          </a:stretch>
        </p:blipFill>
        <p:spPr>
          <a:xfrm>
            <a:off x="6426200" y="2216150"/>
            <a:ext cx="5652135" cy="34505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66340"/>
            <a:ext cx="6202680" cy="22123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334250" y="61290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青色节点为</a:t>
            </a:r>
            <a:r>
              <a:rPr lang="zh-CN" altLang="en-US"/>
              <a:t>光谱吸收连接的</a:t>
            </a:r>
            <a:r>
              <a:rPr lang="zh-CN" altLang="en-US"/>
              <a:t>官能团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-74295"/>
            <a:ext cx="10515600" cy="1325563"/>
          </a:xfrm>
        </p:spPr>
        <p:txBody>
          <a:bodyPr/>
          <a:p>
            <a:r>
              <a:rPr lang="en-US" altLang="zh-CN"/>
              <a:t>3.</a:t>
            </a:r>
            <a:r>
              <a:rPr lang="zh-CN" altLang="en-US"/>
              <a:t>全流程测试</a:t>
            </a:r>
            <a:r>
              <a:rPr lang="zh-CN" altLang="en-US"/>
              <a:t>评估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rcRect l="54" b="73969"/>
          <a:stretch>
            <a:fillRect/>
          </a:stretch>
        </p:blipFill>
        <p:spPr>
          <a:xfrm>
            <a:off x="319405" y="1097915"/>
            <a:ext cx="10509885" cy="53721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15" y="2118995"/>
            <a:ext cx="11520170" cy="9150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95" y="3255645"/>
            <a:ext cx="11476990" cy="5187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515" y="4178935"/>
            <a:ext cx="11155045" cy="2368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065" y="4585335"/>
            <a:ext cx="12052935" cy="19177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860" y="4912360"/>
            <a:ext cx="12042140" cy="25336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9405" y="5438775"/>
            <a:ext cx="10634345" cy="44577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080" y="6091555"/>
            <a:ext cx="11805920" cy="24638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5150" y="6544945"/>
            <a:ext cx="11784965" cy="1987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48310" y="1546225"/>
            <a:ext cx="10515600" cy="1857375"/>
          </a:xfrm>
          <a:prstGeom prst="rect">
            <a:avLst/>
          </a:prstGeom>
        </p:spPr>
      </p:pic>
      <p:pic>
        <p:nvPicPr>
          <p:cNvPr id="5" name="内容占位符 3"/>
          <p:cNvPicPr>
            <a:picLocks noChangeAspect="1"/>
          </p:cNvPicPr>
          <p:nvPr/>
        </p:nvPicPr>
        <p:blipFill>
          <a:blip r:embed="rId2"/>
          <a:srcRect l="54" b="73969"/>
          <a:stretch>
            <a:fillRect/>
          </a:stretch>
        </p:blipFill>
        <p:spPr>
          <a:xfrm>
            <a:off x="840740" y="984250"/>
            <a:ext cx="10509885" cy="5372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25" y="3507105"/>
            <a:ext cx="11087100" cy="2819400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715645" y="3881755"/>
            <a:ext cx="1332230" cy="326390"/>
          </a:xfrm>
          <a:prstGeom prst="round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715645" y="4809490"/>
            <a:ext cx="1332230" cy="326390"/>
          </a:xfrm>
          <a:prstGeom prst="round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715645" y="5405120"/>
            <a:ext cx="1332230" cy="326390"/>
          </a:xfrm>
          <a:prstGeom prst="roundRect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838200" y="-74295"/>
            <a:ext cx="10515600" cy="1325563"/>
          </a:xfrm>
        </p:spPr>
        <p:txBody>
          <a:bodyPr/>
          <a:p>
            <a:r>
              <a:rPr lang="en-US" altLang="zh-CN"/>
              <a:t>3.</a:t>
            </a:r>
            <a:r>
              <a:rPr lang="zh-CN" altLang="en-US"/>
              <a:t>全流程测试</a:t>
            </a:r>
            <a:r>
              <a:rPr lang="zh-CN" altLang="en-US"/>
              <a:t>评估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内容占位符 3"/>
          <p:cNvPicPr>
            <a:picLocks noChangeAspect="1"/>
          </p:cNvPicPr>
          <p:nvPr/>
        </p:nvPicPr>
        <p:blipFill>
          <a:blip r:embed="rId1"/>
          <a:srcRect l="54" b="73969"/>
          <a:stretch>
            <a:fillRect/>
          </a:stretch>
        </p:blipFill>
        <p:spPr>
          <a:xfrm>
            <a:off x="713105" y="815975"/>
            <a:ext cx="10509885" cy="53721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21030" y="1807210"/>
            <a:ext cx="8580755" cy="3371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1" i="0">
                <a:solidFill>
                  <a:schemeClr val="accent2">
                    <a:lumMod val="75000"/>
                  </a:schemeClr>
                </a:solidFill>
                <a:latin typeface="Helvetica Neue"/>
                <a:ea typeface="Helvetica Neue"/>
              </a:rPr>
              <a:t>损失函数</a:t>
            </a:r>
            <a:r>
              <a:rPr lang="zh-CN" altLang="en-US" sz="1600" b="1" i="0">
                <a:solidFill>
                  <a:srgbClr val="333333"/>
                </a:solidFill>
                <a:latin typeface="Helvetica Neue"/>
                <a:ea typeface="Helvetica Neue"/>
              </a:rPr>
              <a:t>：BCEWithLogitsLoss()，用于计算二元分类的</a:t>
            </a:r>
            <a:r>
              <a:rPr lang="zh-CN" altLang="en-US" sz="1600" b="1" i="0">
                <a:solidFill>
                  <a:srgbClr val="333333"/>
                </a:solidFill>
                <a:latin typeface="Helvetica Neue"/>
                <a:ea typeface="Helvetica Neue"/>
              </a:rPr>
              <a:t>损失</a:t>
            </a:r>
            <a:endParaRPr lang="zh-CN" altLang="en-US" sz="1600" b="1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93750" y="12547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评估</a:t>
            </a:r>
            <a:r>
              <a:rPr lang="zh-CN" altLang="en-US"/>
              <a:t>指标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28015" y="401097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b="1" i="0">
                <a:solidFill>
                  <a:schemeClr val="accent2">
                    <a:lumMod val="75000"/>
                  </a:schemeClr>
                </a:solidFill>
                <a:latin typeface="Helvetica Neue"/>
                <a:ea typeface="Helvetica Neue"/>
              </a:rPr>
              <a:t>评估函数</a:t>
            </a:r>
            <a:r>
              <a:rPr lang="zh-CN" altLang="en-US" sz="1600" b="1" i="0">
                <a:solidFill>
                  <a:srgbClr val="333333"/>
                </a:solidFill>
                <a:latin typeface="Helvetica Neue"/>
                <a:ea typeface="Helvetica Neue"/>
              </a:rPr>
              <a:t>：</a:t>
            </a:r>
            <a:r>
              <a:rPr lang="en-US" altLang="zh-CN" sz="1600" b="1" i="0">
                <a:solidFill>
                  <a:srgbClr val="333333"/>
                </a:solidFill>
                <a:latin typeface="Helvetica Neue"/>
                <a:ea typeface="Helvetica Neue"/>
              </a:rPr>
              <a:t>AUC,</a:t>
            </a:r>
            <a:r>
              <a:rPr lang="zh-CN" altLang="en-US" sz="1600" b="1" i="0">
                <a:solidFill>
                  <a:srgbClr val="333333"/>
                </a:solidFill>
                <a:latin typeface="Helvetica Neue"/>
                <a:ea typeface="Helvetica Neue"/>
              </a:rPr>
              <a:t>即</a:t>
            </a:r>
            <a:r>
              <a:rPr lang="en-US" altLang="zh-CN" sz="1600" b="1" i="0">
                <a:solidFill>
                  <a:srgbClr val="333333"/>
                </a:solidFill>
                <a:latin typeface="Helvetica Neue"/>
                <a:ea typeface="Helvetica Neue"/>
              </a:rPr>
              <a:t>ROC</a:t>
            </a:r>
            <a:r>
              <a:rPr lang="zh-CN" altLang="en-US" sz="1600" b="1" i="0">
                <a:solidFill>
                  <a:srgbClr val="333333"/>
                </a:solidFill>
                <a:latin typeface="Helvetica Neue"/>
                <a:ea typeface="Helvetica Neue"/>
              </a:rPr>
              <a:t>曲线与坐标轴围成的</a:t>
            </a:r>
            <a:r>
              <a:rPr lang="zh-CN" altLang="en-US" sz="1600" b="1" i="0">
                <a:solidFill>
                  <a:srgbClr val="333333"/>
                </a:solidFill>
                <a:latin typeface="Helvetica Neue"/>
                <a:ea typeface="Helvetica Neue"/>
              </a:rPr>
              <a:t>面积</a:t>
            </a:r>
            <a:endParaRPr lang="zh-CN" altLang="en-US" sz="1600" b="1" i="0">
              <a:solidFill>
                <a:srgbClr val="333333"/>
              </a:solidFill>
              <a:latin typeface="Helvetica Neue"/>
              <a:ea typeface="Helvetica Neue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680" y="2620645"/>
            <a:ext cx="8362950" cy="52387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780155" y="33934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x:</a:t>
            </a:r>
            <a:r>
              <a:rPr lang="zh-CN" altLang="en-US"/>
              <a:t>预测值；</a:t>
            </a:r>
            <a:r>
              <a:rPr lang="en-US" altLang="zh-CN"/>
              <a:t> y:</a:t>
            </a:r>
            <a:r>
              <a:rPr lang="zh-CN" altLang="en-US"/>
              <a:t>目标值；</a:t>
            </a:r>
            <a:r>
              <a:rPr lang="en-US" altLang="zh-CN"/>
              <a:t>N</a:t>
            </a:r>
            <a:r>
              <a:rPr lang="zh-CN" altLang="en-US"/>
              <a:t>：</a:t>
            </a:r>
            <a:r>
              <a:rPr lang="zh-CN" altLang="en-US"/>
              <a:t>样本数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140" y="4411980"/>
            <a:ext cx="7157720" cy="2225040"/>
          </a:xfrm>
          <a:prstGeom prst="rect">
            <a:avLst/>
          </a:prstGeom>
        </p:spPr>
      </p:pic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838200" y="-74295"/>
            <a:ext cx="10515600" cy="1325563"/>
          </a:xfrm>
        </p:spPr>
        <p:txBody>
          <a:bodyPr/>
          <a:p>
            <a:r>
              <a:rPr lang="en-US" altLang="zh-CN"/>
              <a:t>3.</a:t>
            </a:r>
            <a:r>
              <a:rPr lang="zh-CN" altLang="en-US"/>
              <a:t>全流程测试</a:t>
            </a:r>
            <a:r>
              <a:rPr lang="zh-CN" altLang="en-US"/>
              <a:t>评估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内容占位符 3"/>
          <p:cNvPicPr>
            <a:picLocks noChangeAspect="1"/>
          </p:cNvPicPr>
          <p:nvPr/>
        </p:nvPicPr>
        <p:blipFill>
          <a:blip r:embed="rId1"/>
          <a:srcRect l="54" b="73969"/>
          <a:stretch>
            <a:fillRect/>
          </a:stretch>
        </p:blipFill>
        <p:spPr>
          <a:xfrm>
            <a:off x="713105" y="848360"/>
            <a:ext cx="10509885" cy="5372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0" y="1753870"/>
            <a:ext cx="11591925" cy="30670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79755" y="518890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en-US" altLang="zh-CN" sz="1600" b="1" i="0">
                <a:solidFill>
                  <a:srgbClr val="333333"/>
                </a:solidFill>
                <a:latin typeface="Helvetica Neue"/>
                <a:ea typeface="Helvetica Neue"/>
              </a:rPr>
              <a:t>train_small_molecule\loss:</a:t>
            </a:r>
            <a:r>
              <a:rPr lang="en-US" altLang="zh-CN" sz="1600" b="1" i="0">
                <a:solidFill>
                  <a:srgbClr val="000000"/>
                </a:solidFill>
                <a:latin typeface="Helvetica Neue"/>
                <a:ea typeface="Helvetica Neue"/>
              </a:rPr>
              <a:t>0.080±0.000000</a:t>
            </a:r>
            <a:endParaRPr lang="en-US" altLang="zh-CN" sz="1600" b="1" i="0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9755" y="569182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1" i="0">
                <a:solidFill>
                  <a:srgbClr val="333333"/>
                </a:solidFill>
                <a:latin typeface="Helvetica Neue"/>
                <a:ea typeface="Helvetica Neue"/>
              </a:rPr>
              <a:t>train_small_molecule\auc:</a:t>
            </a:r>
            <a:r>
              <a:rPr lang="en-US" altLang="zh-CN" sz="1600" b="1" i="0">
                <a:solidFill>
                  <a:srgbClr val="000000"/>
                </a:solidFill>
                <a:latin typeface="Helvetica Neue"/>
                <a:ea typeface="Helvetica Neue"/>
              </a:rPr>
              <a:t>0.998791±0.000000</a:t>
            </a:r>
            <a:endParaRPr lang="en-US" altLang="zh-CN" sz="1600" b="1" i="0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93750" y="12547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训练</a:t>
            </a:r>
            <a:r>
              <a:rPr lang="zh-CN" altLang="en-US"/>
              <a:t>过程</a:t>
            </a:r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838200" y="-74295"/>
            <a:ext cx="10515600" cy="1325563"/>
          </a:xfrm>
        </p:spPr>
        <p:txBody>
          <a:bodyPr/>
          <a:p>
            <a:r>
              <a:rPr lang="en-US" altLang="zh-CN"/>
              <a:t>3.</a:t>
            </a:r>
            <a:r>
              <a:rPr lang="zh-CN" altLang="en-US"/>
              <a:t>全流程测试</a:t>
            </a:r>
            <a:r>
              <a:rPr lang="zh-CN" altLang="en-US"/>
              <a:t>评估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793750" y="12547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评估过程</a:t>
            </a:r>
            <a:endParaRPr lang="zh-CN" altLang="en-US"/>
          </a:p>
        </p:txBody>
      </p:sp>
      <p:pic>
        <p:nvPicPr>
          <p:cNvPr id="5" name="内容占位符 3"/>
          <p:cNvPicPr>
            <a:picLocks noChangeAspect="1"/>
          </p:cNvPicPr>
          <p:nvPr/>
        </p:nvPicPr>
        <p:blipFill>
          <a:blip r:embed="rId1"/>
          <a:srcRect l="54" b="73969"/>
          <a:stretch>
            <a:fillRect/>
          </a:stretch>
        </p:blipFill>
        <p:spPr>
          <a:xfrm>
            <a:off x="656590" y="717550"/>
            <a:ext cx="10509885" cy="5372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" y="1802765"/>
            <a:ext cx="9954895" cy="2633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4825" y="48479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en-US" altLang="zh-CN" sz="1600" b="1" i="0">
                <a:solidFill>
                  <a:srgbClr val="333333"/>
                </a:solidFill>
                <a:latin typeface="Helvetica Neue"/>
                <a:ea typeface="Helvetica Neue"/>
              </a:rPr>
              <a:t>valid_small_molecule\loss:</a:t>
            </a:r>
            <a:r>
              <a:rPr lang="en-US" altLang="zh-CN" sz="1600" b="1" i="0">
                <a:solidFill>
                  <a:srgbClr val="000000"/>
                </a:solidFill>
                <a:latin typeface="Helvetica Neue"/>
                <a:ea typeface="Helvetica Neue"/>
              </a:rPr>
              <a:t>0.305284±0.000000</a:t>
            </a:r>
            <a:endParaRPr lang="en-US" altLang="zh-CN" sz="1600" b="1" i="0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4825" y="52949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1" i="0">
                <a:solidFill>
                  <a:srgbClr val="333333"/>
                </a:solidFill>
                <a:latin typeface="Helvetica Neue"/>
                <a:ea typeface="Helvetica Neue"/>
              </a:rPr>
              <a:t>valid_small_molecule\auc:</a:t>
            </a:r>
            <a:r>
              <a:rPr lang="en-US" altLang="zh-CN" sz="1600" b="1" i="0">
                <a:solidFill>
                  <a:srgbClr val="000000"/>
                </a:solidFill>
                <a:latin typeface="Helvetica Neue"/>
                <a:ea typeface="Helvetica Neue"/>
              </a:rPr>
              <a:t>0.958843±0.000000</a:t>
            </a:r>
            <a:endParaRPr lang="en-US" altLang="zh-CN" sz="1600" b="1" i="0">
              <a:solidFill>
                <a:srgbClr val="000000"/>
              </a:solidFill>
              <a:latin typeface="Helvetica Neue"/>
              <a:ea typeface="Helvetica Neue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696585" y="48479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en-US" altLang="zh-CN" sz="1600" b="1" i="0">
                <a:solidFill>
                  <a:srgbClr val="FF0000"/>
                </a:solidFill>
                <a:latin typeface="Helvetica Neue"/>
                <a:ea typeface="Helvetica Neue"/>
              </a:rPr>
              <a:t>test_small_molecule\loss:0.368243±0.000000</a:t>
            </a:r>
            <a:endParaRPr lang="en-US" altLang="zh-CN" sz="1600" b="1" i="0">
              <a:solidFill>
                <a:srgbClr val="FF0000"/>
              </a:solidFill>
              <a:latin typeface="Helvetica Neue"/>
              <a:ea typeface="Helvetica Neue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738495" y="523525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0" i="0">
                <a:solidFill>
                  <a:srgbClr val="FF0000"/>
                </a:solidFill>
                <a:latin typeface="Helvetica Neue"/>
                <a:ea typeface="Helvetica Neue"/>
              </a:rPr>
              <a:t>test_small_molecule\auc:</a:t>
            </a:r>
            <a:r>
              <a:rPr lang="en-US" altLang="zh-CN" sz="1600" i="0">
                <a:solidFill>
                  <a:srgbClr val="FF0000"/>
                </a:solidFill>
                <a:latin typeface="Helvetica Neue"/>
                <a:ea typeface="Helvetica Neue"/>
              </a:rPr>
              <a:t>0.956989±0.000000</a:t>
            </a:r>
            <a:endParaRPr lang="en-US" altLang="zh-CN" sz="1600" i="0">
              <a:solidFill>
                <a:srgbClr val="FF0000"/>
              </a:solidFill>
              <a:latin typeface="Helvetica Neue"/>
              <a:ea typeface="Helvetica Neue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793750" y="-180975"/>
            <a:ext cx="10515600" cy="1325563"/>
          </a:xfrm>
        </p:spPr>
        <p:txBody>
          <a:bodyPr/>
          <a:p>
            <a:r>
              <a:rPr lang="en-US" altLang="zh-CN"/>
              <a:t>3.</a:t>
            </a:r>
            <a:r>
              <a:rPr lang="zh-CN" altLang="en-US"/>
              <a:t>全流程测试</a:t>
            </a:r>
            <a:r>
              <a:rPr lang="zh-CN" altLang="en-US"/>
              <a:t>评估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标题 10"/>
          <p:cNvSpPr>
            <a:spLocks noGrp="1"/>
          </p:cNvSpPr>
          <p:nvPr/>
        </p:nvSpPr>
        <p:spPr>
          <a:xfrm>
            <a:off x="895985" y="3810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/>
              <a:t>4.</a:t>
            </a:r>
            <a:r>
              <a:rPr lang="zh-CN" altLang="en-US"/>
              <a:t>后续</a:t>
            </a:r>
            <a:r>
              <a:rPr lang="zh-CN" altLang="en-US"/>
              <a:t>工作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200" y="1706880"/>
            <a:ext cx="10515600" cy="4351338"/>
          </a:xfrm>
        </p:spPr>
        <p:txBody>
          <a:bodyPr>
            <a:normAutofit lnSpcReduction="10000"/>
          </a:bodyPr>
          <a:p>
            <a:pPr marL="514350" indent="-514350" fontAlgn="auto">
              <a:lnSpc>
                <a:spcPct val="100000"/>
              </a:lnSpc>
              <a:buAutoNum type="arabicPeriod"/>
            </a:pPr>
            <a:r>
              <a:rPr lang="zh-CN" altLang="en-US"/>
              <a:t>重新尝试不同的光谱</a:t>
            </a:r>
            <a:r>
              <a:rPr lang="en-US" altLang="zh-CN"/>
              <a:t>-</a:t>
            </a:r>
            <a:r>
              <a:rPr lang="zh-CN" altLang="en-US"/>
              <a:t>官能团连接方法，使生成的混合图谱更加</a:t>
            </a:r>
            <a:r>
              <a:rPr lang="zh-CN" altLang="en-US"/>
              <a:t>准确</a:t>
            </a:r>
            <a:endParaRPr lang="zh-CN" altLang="en-US"/>
          </a:p>
          <a:p>
            <a:pPr marL="514350" indent="-514350" fontAlgn="auto">
              <a:lnSpc>
                <a:spcPct val="100000"/>
              </a:lnSpc>
              <a:buAutoNum type="arabicPeriod"/>
            </a:pPr>
            <a:r>
              <a:rPr lang="zh-CN" altLang="en-US"/>
              <a:t>完整的格式化在实验中使用</a:t>
            </a:r>
            <a:r>
              <a:rPr lang="zh-CN" altLang="en-US"/>
              <a:t>的化学知识图谱，因为之前只处理了部分在我们的测试中可能用到的节点，并没有全部处理完</a:t>
            </a:r>
            <a:endParaRPr lang="zh-CN" altLang="en-US"/>
          </a:p>
          <a:p>
            <a:pPr marL="514350" indent="-514350" fontAlgn="auto">
              <a:lnSpc>
                <a:spcPct val="100000"/>
              </a:lnSpc>
              <a:buAutoNum type="arabicPeriod"/>
            </a:pPr>
            <a:r>
              <a:rPr lang="zh-CN" altLang="en-US"/>
              <a:t>测试模型的</a:t>
            </a:r>
            <a:r>
              <a:rPr lang="en-US" altLang="zh-CN"/>
              <a:t>Few/Zero shot </a:t>
            </a:r>
            <a:r>
              <a:rPr lang="zh-CN" altLang="en-US"/>
              <a:t>分类</a:t>
            </a:r>
            <a:r>
              <a:rPr lang="zh-CN" altLang="en-US"/>
              <a:t>能力</a:t>
            </a:r>
            <a:endParaRPr lang="zh-CN" altLang="en-US"/>
          </a:p>
          <a:p>
            <a:pPr marL="514350" indent="-514350" fontAlgn="auto">
              <a:lnSpc>
                <a:spcPct val="100000"/>
              </a:lnSpc>
              <a:buAutoNum type="arabicPeriod"/>
            </a:pPr>
            <a:r>
              <a:rPr lang="zh-CN" altLang="en-US">
                <a:sym typeface="+mn-ea"/>
              </a:rPr>
              <a:t>根据测试结果进一步调整网络及其它相关参数</a:t>
            </a:r>
            <a:endParaRPr lang="zh-CN" altLang="en-US"/>
          </a:p>
          <a:p>
            <a:pPr marL="514350" indent="-514350" fontAlgn="auto">
              <a:lnSpc>
                <a:spcPct val="100000"/>
              </a:lnSpc>
              <a:buAutoNum type="arabicPeriod"/>
            </a:pPr>
            <a:r>
              <a:rPr lang="zh-CN" altLang="en-US"/>
              <a:t>思考后续进一步在不同领域，多任务，复杂任务的场景下的推广</a:t>
            </a:r>
            <a:r>
              <a:rPr lang="zh-CN" altLang="en-US"/>
              <a:t>方法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GM3NDQ2ODY5OTliYjhkYWNlN2I3MWE5MzA4ZTQ0MTk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1314</Words>
  <Application>WPS 演示</Application>
  <PresentationFormat>宽屏</PresentationFormat>
  <Paragraphs>91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Consolas</vt:lpstr>
      <vt:lpstr>Helvetica Neue</vt:lpstr>
      <vt:lpstr>Calibri</vt:lpstr>
      <vt:lpstr>微软雅黑</vt:lpstr>
      <vt:lpstr>Arial Unicode MS</vt:lpstr>
      <vt:lpstr>WPS</vt:lpstr>
      <vt:lpstr>PowerPoint 演示文稿</vt:lpstr>
      <vt:lpstr>此前完成的相关内容</vt:lpstr>
      <vt:lpstr>1.任务图设置</vt:lpstr>
      <vt:lpstr>1.任务图设置</vt:lpstr>
      <vt:lpstr>2.模型设置</vt:lpstr>
      <vt:lpstr>3.全流程测试评估</vt:lpstr>
      <vt:lpstr>3.全流程测试评估</vt:lpstr>
      <vt:lpstr>3.全流程测试评估</vt:lpstr>
      <vt:lpstr>3.全流程测试评估</vt:lpstr>
      <vt:lpstr>3.全流程测试评估</vt:lpstr>
      <vt:lpstr>3.全流程测试评估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ljh</dc:creator>
  <cp:lastModifiedBy>万事胜意</cp:lastModifiedBy>
  <cp:revision>46</cp:revision>
  <dcterms:created xsi:type="dcterms:W3CDTF">2023-08-09T12:44:00Z</dcterms:created>
  <dcterms:modified xsi:type="dcterms:W3CDTF">2024-07-12T06:49:58Z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2052-12.1.0.17133</vt:lpwstr>
  </property>
</Properties>
</file>